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12BED07-6713-92AA-40AF-AE58F4F83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8406" y="4512376"/>
            <a:ext cx="8639776" cy="900190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EF77-BF49-E4C1-0FC7-563354777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BD5853-25AA-1C3D-EAD2-49667479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F0DAD-5850-CAAE-CD25-4D6DDDFF3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4851B1-0B20-9549-0D70-886AA9D045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8406" y="1720884"/>
            <a:ext cx="8639775" cy="2734693"/>
          </a:xfrm>
          <a:noFill/>
        </p:spPr>
        <p:txBody>
          <a:bodyPr anchor="b">
            <a:normAutofit/>
          </a:bodyPr>
          <a:lstStyle>
            <a:lvl1pPr algn="l">
              <a:defRPr sz="3200" spc="53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849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48F26-B5E3-8A90-51FC-8520D1D73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EA4D95-10F3-6212-8302-5610C43E3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81BE7-A53D-441E-0393-0E59412C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F10F0-B23F-BF4B-DB66-9BCF734D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5DDEC-13A7-D988-D082-03076F80F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37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0CFA-45ED-71B0-EE3E-CCE6D5C19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2474" y="2413788"/>
            <a:ext cx="8085116" cy="2737521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7BECA-A01D-7D7A-F2A6-891EC9D229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74" y="1351721"/>
            <a:ext cx="8085118" cy="99391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716478-6FAF-D420-0B87-6EABB81E8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4289B-CB0D-8AFC-7C02-F755C0DC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71E4-8A9E-2A30-D7FE-B3505124B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31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7F941-C3A7-545F-8046-C7A9AC80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5817" y="1272209"/>
            <a:ext cx="9164725" cy="103367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D4277-CFAE-EEF6-3346-61F06D5A3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15817" y="2425148"/>
            <a:ext cx="4188635" cy="316064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43384-699D-84FC-C8B5-7BDE49BB4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1355" y="2425148"/>
            <a:ext cx="4188635" cy="31606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49386-AFC8-03DA-4563-07B0A0119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AED60A-7704-31D9-7D4D-65C635EDF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927DA-3B5E-13B8-0BA8-5DCFF001E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48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7B55A-280B-BDCB-F966-8578DDE7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42" y="600817"/>
            <a:ext cx="10079497" cy="116870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76EA03-7008-14AB-547B-E66EA4EC9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7442" y="1798488"/>
            <a:ext cx="4599587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629F56-D2C8-71FE-FA59-002819D5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7442" y="2777279"/>
            <a:ext cx="4599587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2524D2-CA8D-75F3-D089-C2F0E20D47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352" y="1798488"/>
            <a:ext cx="4599588" cy="668492"/>
          </a:xfrm>
        </p:spPr>
        <p:txBody>
          <a:bodyPr anchor="b"/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99B0E3-5AE5-0516-27BF-9F246137F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7352" y="2777279"/>
            <a:ext cx="4599588" cy="32769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B319A7-6048-4735-B2AC-6D6043F1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15F875-F23E-D0D2-9115-CD494FDA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4F88F-F488-D9D5-CF99-AA1750AAF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94593-EFC2-EEEF-74CD-BD00F4132A94}"/>
              </a:ext>
            </a:extLst>
          </p:cNvPr>
          <p:cNvCxnSpPr>
            <a:cxnSpLocks/>
          </p:cNvCxnSpPr>
          <p:nvPr/>
        </p:nvCxnSpPr>
        <p:spPr>
          <a:xfrm>
            <a:off x="6571185" y="2593591"/>
            <a:ext cx="4525755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851F6D-436C-FA47-8CD1-2C10E735764A}"/>
              </a:ext>
            </a:extLst>
          </p:cNvPr>
          <p:cNvCxnSpPr>
            <a:cxnSpLocks/>
          </p:cNvCxnSpPr>
          <p:nvPr/>
        </p:nvCxnSpPr>
        <p:spPr>
          <a:xfrm>
            <a:off x="1107503" y="2593591"/>
            <a:ext cx="4509526" cy="0"/>
          </a:xfrm>
          <a:prstGeom prst="line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3919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91B86-9261-4E82-EF65-30F78154E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3A5E84-E43B-20AE-E80D-47CB0B07B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F5797-14F1-9FEB-247C-0E325AF7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B5D7AF-1489-8F93-4828-0AE784B8B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5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6CAF1C-8901-AE05-E52C-D5B959410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CD4F90-2973-4FE2-6C2C-5C2AC5C5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0414B-A7EC-0C14-EFD2-29C5582C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394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378C7-A764-C5E4-A6A4-DC5B1B35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1" y="1391478"/>
            <a:ext cx="3288432" cy="195141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FE178-4B5D-413B-6583-AB81E8D04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3235" y="920080"/>
            <a:ext cx="5312467" cy="502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B92F6D-71AB-9630-9DBE-46041C50C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1" y="3566727"/>
            <a:ext cx="3288432" cy="1766325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FEAAD1-C919-6E2E-32D2-E199025FB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8B5D8-E15B-BE38-2A89-BD0F02E1A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ECC26-B78C-4CBD-6883-97E80D3E5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AAC029-BE5C-900C-E7D2-DE6E31789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05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04EAA-30F7-390A-C77C-2E5BD8218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0120" y="1391478"/>
            <a:ext cx="3322510" cy="2037522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 useBgFill="1">
        <p:nvSpPr>
          <p:cNvPr id="3" name="Picture Placeholder 2">
            <a:extLst>
              <a:ext uri="{FF2B5EF4-FFF2-40B4-BE49-F238E27FC236}">
                <a16:creationId xmlns:a16="http://schemas.microsoft.com/office/drawing/2014/main" id="{513A1C34-81AC-D534-67B1-427212289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907143" y="931857"/>
            <a:ext cx="5351659" cy="499630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1012D-3524-26C6-64C1-8CE6E7A9A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80120" y="3742792"/>
            <a:ext cx="3322510" cy="1590261"/>
          </a:xfrm>
        </p:spPr>
        <p:txBody>
          <a:bodyPr anchor="b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8FA6D7-1BE0-F14D-A2F7-4836180BC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56B5AC-3F20-FDC1-D579-7C4C6B4ED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74ACA-1D54-81FA-70B1-31AB3011B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D8EE65-D4F9-418A-1628-F5DFD3DB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4305523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76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2C3AB-851A-0D2F-B3AE-5B161CFFC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338" y="1255172"/>
            <a:ext cx="9297346" cy="1050707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9FD6B-3621-3904-7878-A2825C6925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624338" y="2419468"/>
            <a:ext cx="9297346" cy="32543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08AE9-D8ED-ED5D-D7B0-A4381177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9EF98B-AC81-D122-3D05-9C4E2FE42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FB543-B138-6627-3714-12105D172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475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3DE16D-F1A0-DDB5-A98C-A9055C93D9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6961" y="1414196"/>
            <a:ext cx="1817441" cy="4100602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A548F-8DA7-C53C-1BFE-7C720CB20F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346042" y="1414196"/>
            <a:ext cx="7780919" cy="410060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EA2C8-1C90-25D0-8B0A-30B73CFD3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FF1A4-0404-DA2D-1EA4-828091C0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57155-0F4A-F7B7-C4A8-755572E98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808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792104-6F24-CD50-F55E-22A55084D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42" y="1233199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059CB-D00E-398D-E4D9-59792FC4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444" y="2419639"/>
            <a:ext cx="8977509" cy="31417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DFBC38-D897-7CBE-AC89-A95A2222D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7726" y="61991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E7736193-EDE3-4BB5-AE5F-E6E5472AB8BE}" type="datetimeFigureOut">
              <a:rPr lang="en-US" smtClean="0"/>
              <a:t>9/4/2024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28008-2A03-D518-4A75-30816EB0D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86625" y="6199188"/>
            <a:ext cx="3409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91D49-2BD8-1C36-B43A-CF2F917776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96577" y="6199188"/>
            <a:ext cx="6191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n-lt"/>
              </a:defRPr>
            </a:lvl1pPr>
          </a:lstStyle>
          <a:p>
            <a:fld id="{1CC2C9B9-B4B7-45CC-A7EB-16F8BADE904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E2A49E-0BD9-321C-F602-AFA2FCF9B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3198" y="931857"/>
            <a:ext cx="10326946" cy="499630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4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5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ylanABenson24/UNCC_Data-Science_Association" TargetMode="External"/><Relationship Id="rId7" Type="http://schemas.openxmlformats.org/officeDocument/2006/relationships/hyperlink" Target="https://sds.charlotte.edu/upcoming-events/" TargetMode="External"/><Relationship Id="rId2" Type="http://schemas.openxmlformats.org/officeDocument/2006/relationships/hyperlink" Target="https://linktr.ee/clt_ads?utm_source=linktree_profile_sha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ds.charlotte.edu/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31384CA-BBDF-78EA-C1B6-7C26234E0B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081EE3-B6BE-9584-F5AF-E5F6484DA7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1999" cy="685800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An abstract genetic concept">
            <a:extLst>
              <a:ext uri="{FF2B5EF4-FFF2-40B4-BE49-F238E27FC236}">
                <a16:creationId xmlns:a16="http://schemas.microsoft.com/office/drawing/2014/main" id="{D21B6AAB-E2C5-2D43-38CC-B2C8F5869AB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5613" b="18137"/>
          <a:stretch/>
        </p:blipFill>
        <p:spPr>
          <a:xfrm>
            <a:off x="20" y="10"/>
            <a:ext cx="12191978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44B87E-C7E2-124D-A3BF-8320809FD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99218" y="1597224"/>
            <a:ext cx="3892196" cy="1831776"/>
          </a:xfrm>
          <a:noFill/>
        </p:spPr>
        <p:txBody>
          <a:bodyPr anchor="ctr">
            <a:normAutofit/>
          </a:bodyPr>
          <a:lstStyle/>
          <a:p>
            <a:pPr algn="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Introduction to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81209-BD16-076F-2F49-B10E7D2D1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6729" y="2401973"/>
            <a:ext cx="3063240" cy="1702668"/>
          </a:xfrm>
          <a:noFill/>
        </p:spPr>
        <p:txBody>
          <a:bodyPr anchor="b">
            <a:normAutofit/>
          </a:bodyPr>
          <a:lstStyle/>
          <a:p>
            <a:pPr algn="r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Association of Data Science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8083107-365E-2697-D22F-25A7DDF59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6726381" y="934038"/>
            <a:ext cx="4523587" cy="4991433"/>
          </a:xfrm>
          <a:custGeom>
            <a:avLst/>
            <a:gdLst>
              <a:gd name="connsiteX0" fmla="*/ 0 w 9985794"/>
              <a:gd name="connsiteY0" fmla="*/ 0 h 4920343"/>
              <a:gd name="connsiteX1" fmla="*/ 9985794 w 9985794"/>
              <a:gd name="connsiteY1" fmla="*/ 0 h 4920343"/>
              <a:gd name="connsiteX2" fmla="*/ 9985794 w 9985794"/>
              <a:gd name="connsiteY2" fmla="*/ 4920343 h 4920343"/>
              <a:gd name="connsiteX3" fmla="*/ 0 w 9985794"/>
              <a:gd name="connsiteY3" fmla="*/ 4920343 h 4920343"/>
              <a:gd name="connsiteX4" fmla="*/ 0 w 9985794"/>
              <a:gd name="connsiteY4" fmla="*/ 4119525 h 4920343"/>
              <a:gd name="connsiteX5" fmla="*/ 4905554 w 9985794"/>
              <a:gd name="connsiteY5" fmla="*/ 4119525 h 4920343"/>
              <a:gd name="connsiteX6" fmla="*/ 4905554 w 9985794"/>
              <a:gd name="connsiteY6" fmla="*/ 1451087 h 4920343"/>
              <a:gd name="connsiteX7" fmla="*/ 0 w 9985794"/>
              <a:gd name="connsiteY7" fmla="*/ 1451087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8" fmla="*/ 4996994 w 9985794"/>
              <a:gd name="connsiteY8" fmla="*/ 4210965 h 4920343"/>
              <a:gd name="connsiteX0" fmla="*/ 4905554 w 9985794"/>
              <a:gd name="connsiteY0" fmla="*/ 4119525 h 4920343"/>
              <a:gd name="connsiteX1" fmla="*/ 4905554 w 9985794"/>
              <a:gd name="connsiteY1" fmla="*/ 1451087 h 4920343"/>
              <a:gd name="connsiteX2" fmla="*/ 0 w 9985794"/>
              <a:gd name="connsiteY2" fmla="*/ 1451087 h 4920343"/>
              <a:gd name="connsiteX3" fmla="*/ 0 w 9985794"/>
              <a:gd name="connsiteY3" fmla="*/ 0 h 4920343"/>
              <a:gd name="connsiteX4" fmla="*/ 9985794 w 9985794"/>
              <a:gd name="connsiteY4" fmla="*/ 0 h 4920343"/>
              <a:gd name="connsiteX5" fmla="*/ 9985794 w 9985794"/>
              <a:gd name="connsiteY5" fmla="*/ 4920343 h 4920343"/>
              <a:gd name="connsiteX6" fmla="*/ 0 w 9985794"/>
              <a:gd name="connsiteY6" fmla="*/ 4920343 h 4920343"/>
              <a:gd name="connsiteX7" fmla="*/ 0 w 9985794"/>
              <a:gd name="connsiteY7" fmla="*/ 4119525 h 4920343"/>
              <a:gd name="connsiteX0" fmla="*/ 4905554 w 9985794"/>
              <a:gd name="connsiteY0" fmla="*/ 1451087 h 4920343"/>
              <a:gd name="connsiteX1" fmla="*/ 0 w 9985794"/>
              <a:gd name="connsiteY1" fmla="*/ 1451087 h 4920343"/>
              <a:gd name="connsiteX2" fmla="*/ 0 w 9985794"/>
              <a:gd name="connsiteY2" fmla="*/ 0 h 4920343"/>
              <a:gd name="connsiteX3" fmla="*/ 9985794 w 9985794"/>
              <a:gd name="connsiteY3" fmla="*/ 0 h 4920343"/>
              <a:gd name="connsiteX4" fmla="*/ 9985794 w 9985794"/>
              <a:gd name="connsiteY4" fmla="*/ 4920343 h 4920343"/>
              <a:gd name="connsiteX5" fmla="*/ 0 w 9985794"/>
              <a:gd name="connsiteY5" fmla="*/ 4920343 h 4920343"/>
              <a:gd name="connsiteX6" fmla="*/ 0 w 9985794"/>
              <a:gd name="connsiteY6" fmla="*/ 4119525 h 4920343"/>
              <a:gd name="connsiteX0" fmla="*/ 0 w 9985794"/>
              <a:gd name="connsiteY0" fmla="*/ 1451087 h 4920343"/>
              <a:gd name="connsiteX1" fmla="*/ 0 w 9985794"/>
              <a:gd name="connsiteY1" fmla="*/ 0 h 4920343"/>
              <a:gd name="connsiteX2" fmla="*/ 9985794 w 9985794"/>
              <a:gd name="connsiteY2" fmla="*/ 0 h 4920343"/>
              <a:gd name="connsiteX3" fmla="*/ 9985794 w 9985794"/>
              <a:gd name="connsiteY3" fmla="*/ 4920343 h 4920343"/>
              <a:gd name="connsiteX4" fmla="*/ 0 w 9985794"/>
              <a:gd name="connsiteY4" fmla="*/ 4920343 h 4920343"/>
              <a:gd name="connsiteX5" fmla="*/ 0 w 9985794"/>
              <a:gd name="connsiteY5" fmla="*/ 4119525 h 4920343"/>
              <a:gd name="connsiteX0" fmla="*/ 0 w 10019371"/>
              <a:gd name="connsiteY0" fmla="*/ 1655069 h 4920343"/>
              <a:gd name="connsiteX1" fmla="*/ 33577 w 10019371"/>
              <a:gd name="connsiteY1" fmla="*/ 0 h 4920343"/>
              <a:gd name="connsiteX2" fmla="*/ 10019371 w 10019371"/>
              <a:gd name="connsiteY2" fmla="*/ 0 h 4920343"/>
              <a:gd name="connsiteX3" fmla="*/ 10019371 w 10019371"/>
              <a:gd name="connsiteY3" fmla="*/ 4920343 h 4920343"/>
              <a:gd name="connsiteX4" fmla="*/ 33577 w 10019371"/>
              <a:gd name="connsiteY4" fmla="*/ 4920343 h 4920343"/>
              <a:gd name="connsiteX5" fmla="*/ 33577 w 10019371"/>
              <a:gd name="connsiteY5" fmla="*/ 4119525 h 4920343"/>
              <a:gd name="connsiteX0" fmla="*/ 0 w 9991028"/>
              <a:gd name="connsiteY0" fmla="*/ 1645173 h 4920343"/>
              <a:gd name="connsiteX1" fmla="*/ 5234 w 9991028"/>
              <a:gd name="connsiteY1" fmla="*/ 0 h 4920343"/>
              <a:gd name="connsiteX2" fmla="*/ 9991028 w 9991028"/>
              <a:gd name="connsiteY2" fmla="*/ 0 h 4920343"/>
              <a:gd name="connsiteX3" fmla="*/ 9991028 w 9991028"/>
              <a:gd name="connsiteY3" fmla="*/ 4920343 h 4920343"/>
              <a:gd name="connsiteX4" fmla="*/ 5234 w 9991028"/>
              <a:gd name="connsiteY4" fmla="*/ 4920343 h 4920343"/>
              <a:gd name="connsiteX5" fmla="*/ 5234 w 9991028"/>
              <a:gd name="connsiteY5" fmla="*/ 4119525 h 4920343"/>
              <a:gd name="connsiteX0" fmla="*/ 59 w 9986364"/>
              <a:gd name="connsiteY0" fmla="*/ 1639236 h 4920343"/>
              <a:gd name="connsiteX1" fmla="*/ 570 w 9986364"/>
              <a:gd name="connsiteY1" fmla="*/ 0 h 4920343"/>
              <a:gd name="connsiteX2" fmla="*/ 9986364 w 9986364"/>
              <a:gd name="connsiteY2" fmla="*/ 0 h 4920343"/>
              <a:gd name="connsiteX3" fmla="*/ 9986364 w 9986364"/>
              <a:gd name="connsiteY3" fmla="*/ 4920343 h 4920343"/>
              <a:gd name="connsiteX4" fmla="*/ 570 w 9986364"/>
              <a:gd name="connsiteY4" fmla="*/ 4920343 h 4920343"/>
              <a:gd name="connsiteX5" fmla="*/ 570 w 9986364"/>
              <a:gd name="connsiteY5" fmla="*/ 4119525 h 4920343"/>
              <a:gd name="connsiteX0" fmla="*/ 60 w 9986364"/>
              <a:gd name="connsiteY0" fmla="*/ 1847740 h 4920343"/>
              <a:gd name="connsiteX1" fmla="*/ 570 w 9986364"/>
              <a:gd name="connsiteY1" fmla="*/ 0 h 4920343"/>
              <a:gd name="connsiteX2" fmla="*/ 9986364 w 9986364"/>
              <a:gd name="connsiteY2" fmla="*/ 0 h 4920343"/>
              <a:gd name="connsiteX3" fmla="*/ 9986364 w 9986364"/>
              <a:gd name="connsiteY3" fmla="*/ 4920343 h 4920343"/>
              <a:gd name="connsiteX4" fmla="*/ 570 w 9986364"/>
              <a:gd name="connsiteY4" fmla="*/ 4920343 h 4920343"/>
              <a:gd name="connsiteX5" fmla="*/ 570 w 9986364"/>
              <a:gd name="connsiteY5" fmla="*/ 4119525 h 4920343"/>
              <a:gd name="connsiteX0" fmla="*/ 11626 w 9985937"/>
              <a:gd name="connsiteY0" fmla="*/ 1797498 h 4920343"/>
              <a:gd name="connsiteX1" fmla="*/ 143 w 9985937"/>
              <a:gd name="connsiteY1" fmla="*/ 0 h 4920343"/>
              <a:gd name="connsiteX2" fmla="*/ 9985937 w 9985937"/>
              <a:gd name="connsiteY2" fmla="*/ 0 h 4920343"/>
              <a:gd name="connsiteX3" fmla="*/ 9985937 w 9985937"/>
              <a:gd name="connsiteY3" fmla="*/ 4920343 h 4920343"/>
              <a:gd name="connsiteX4" fmla="*/ 143 w 9985937"/>
              <a:gd name="connsiteY4" fmla="*/ 4920343 h 4920343"/>
              <a:gd name="connsiteX5" fmla="*/ 143 w 9985937"/>
              <a:gd name="connsiteY5" fmla="*/ 4119525 h 4920343"/>
              <a:gd name="connsiteX0" fmla="*/ 62 w 9986364"/>
              <a:gd name="connsiteY0" fmla="*/ 1779914 h 4920343"/>
              <a:gd name="connsiteX1" fmla="*/ 570 w 9986364"/>
              <a:gd name="connsiteY1" fmla="*/ 0 h 4920343"/>
              <a:gd name="connsiteX2" fmla="*/ 9986364 w 9986364"/>
              <a:gd name="connsiteY2" fmla="*/ 0 h 4920343"/>
              <a:gd name="connsiteX3" fmla="*/ 9986364 w 9986364"/>
              <a:gd name="connsiteY3" fmla="*/ 4920343 h 4920343"/>
              <a:gd name="connsiteX4" fmla="*/ 570 w 9986364"/>
              <a:gd name="connsiteY4" fmla="*/ 4920343 h 4920343"/>
              <a:gd name="connsiteX5" fmla="*/ 570 w 9986364"/>
              <a:gd name="connsiteY5" fmla="*/ 4119525 h 4920343"/>
              <a:gd name="connsiteX0" fmla="*/ 17584 w 9985899"/>
              <a:gd name="connsiteY0" fmla="*/ 1779914 h 4920343"/>
              <a:gd name="connsiteX1" fmla="*/ 105 w 9985899"/>
              <a:gd name="connsiteY1" fmla="*/ 0 h 4920343"/>
              <a:gd name="connsiteX2" fmla="*/ 9985899 w 9985899"/>
              <a:gd name="connsiteY2" fmla="*/ 0 h 4920343"/>
              <a:gd name="connsiteX3" fmla="*/ 9985899 w 9985899"/>
              <a:gd name="connsiteY3" fmla="*/ 4920343 h 4920343"/>
              <a:gd name="connsiteX4" fmla="*/ 105 w 9985899"/>
              <a:gd name="connsiteY4" fmla="*/ 4920343 h 4920343"/>
              <a:gd name="connsiteX5" fmla="*/ 105 w 9985899"/>
              <a:gd name="connsiteY5" fmla="*/ 4119525 h 4920343"/>
              <a:gd name="connsiteX0" fmla="*/ 17584 w 9985899"/>
              <a:gd name="connsiteY0" fmla="*/ 1779914 h 4920343"/>
              <a:gd name="connsiteX1" fmla="*/ 105 w 9985899"/>
              <a:gd name="connsiteY1" fmla="*/ 0 h 4920343"/>
              <a:gd name="connsiteX2" fmla="*/ 9985899 w 9985899"/>
              <a:gd name="connsiteY2" fmla="*/ 0 h 4920343"/>
              <a:gd name="connsiteX3" fmla="*/ 9985899 w 9985899"/>
              <a:gd name="connsiteY3" fmla="*/ 4920343 h 4920343"/>
              <a:gd name="connsiteX4" fmla="*/ 105 w 9985899"/>
              <a:gd name="connsiteY4" fmla="*/ 4920343 h 4920343"/>
              <a:gd name="connsiteX5" fmla="*/ 3331 w 9985899"/>
              <a:gd name="connsiteY5" fmla="*/ 4251727 h 4920343"/>
              <a:gd name="connsiteX0" fmla="*/ 23936 w 9992251"/>
              <a:gd name="connsiteY0" fmla="*/ 1779914 h 4920343"/>
              <a:gd name="connsiteX1" fmla="*/ 6457 w 9992251"/>
              <a:gd name="connsiteY1" fmla="*/ 0 h 4920343"/>
              <a:gd name="connsiteX2" fmla="*/ 9992251 w 9992251"/>
              <a:gd name="connsiteY2" fmla="*/ 0 h 4920343"/>
              <a:gd name="connsiteX3" fmla="*/ 9992251 w 9992251"/>
              <a:gd name="connsiteY3" fmla="*/ 4920343 h 4920343"/>
              <a:gd name="connsiteX4" fmla="*/ 6457 w 9992251"/>
              <a:gd name="connsiteY4" fmla="*/ 4920343 h 4920343"/>
              <a:gd name="connsiteX5" fmla="*/ 0 w 9992251"/>
              <a:gd name="connsiteY5" fmla="*/ 4250393 h 4920343"/>
              <a:gd name="connsiteX0" fmla="*/ 20707 w 9989022"/>
              <a:gd name="connsiteY0" fmla="*/ 1779914 h 4920343"/>
              <a:gd name="connsiteX1" fmla="*/ 3228 w 9989022"/>
              <a:gd name="connsiteY1" fmla="*/ 0 h 4920343"/>
              <a:gd name="connsiteX2" fmla="*/ 9989022 w 9989022"/>
              <a:gd name="connsiteY2" fmla="*/ 0 h 4920343"/>
              <a:gd name="connsiteX3" fmla="*/ 9989022 w 9989022"/>
              <a:gd name="connsiteY3" fmla="*/ 4920343 h 4920343"/>
              <a:gd name="connsiteX4" fmla="*/ 3228 w 9989022"/>
              <a:gd name="connsiteY4" fmla="*/ 4920343 h 4920343"/>
              <a:gd name="connsiteX5" fmla="*/ 0 w 9989022"/>
              <a:gd name="connsiteY5" fmla="*/ 4250394 h 4920343"/>
              <a:gd name="connsiteX0" fmla="*/ 17583 w 9985898"/>
              <a:gd name="connsiteY0" fmla="*/ 1779914 h 4920343"/>
              <a:gd name="connsiteX1" fmla="*/ 104 w 9985898"/>
              <a:gd name="connsiteY1" fmla="*/ 0 h 4920343"/>
              <a:gd name="connsiteX2" fmla="*/ 9985898 w 9985898"/>
              <a:gd name="connsiteY2" fmla="*/ 0 h 4920343"/>
              <a:gd name="connsiteX3" fmla="*/ 9985898 w 9985898"/>
              <a:gd name="connsiteY3" fmla="*/ 4920343 h 4920343"/>
              <a:gd name="connsiteX4" fmla="*/ 104 w 9985898"/>
              <a:gd name="connsiteY4" fmla="*/ 4920343 h 4920343"/>
              <a:gd name="connsiteX5" fmla="*/ 6559 w 9985898"/>
              <a:gd name="connsiteY5" fmla="*/ 4251729 h 4920343"/>
              <a:gd name="connsiteX0" fmla="*/ 23935 w 9992250"/>
              <a:gd name="connsiteY0" fmla="*/ 1779914 h 4920343"/>
              <a:gd name="connsiteX1" fmla="*/ 6456 w 9992250"/>
              <a:gd name="connsiteY1" fmla="*/ 0 h 4920343"/>
              <a:gd name="connsiteX2" fmla="*/ 9992250 w 9992250"/>
              <a:gd name="connsiteY2" fmla="*/ 0 h 4920343"/>
              <a:gd name="connsiteX3" fmla="*/ 9992250 w 9992250"/>
              <a:gd name="connsiteY3" fmla="*/ 4920343 h 4920343"/>
              <a:gd name="connsiteX4" fmla="*/ 6456 w 9992250"/>
              <a:gd name="connsiteY4" fmla="*/ 4920343 h 4920343"/>
              <a:gd name="connsiteX5" fmla="*/ 0 w 9992250"/>
              <a:gd name="connsiteY5" fmla="*/ 4255735 h 4920343"/>
              <a:gd name="connsiteX0" fmla="*/ 20706 w 9989021"/>
              <a:gd name="connsiteY0" fmla="*/ 1779914 h 4920343"/>
              <a:gd name="connsiteX1" fmla="*/ 3227 w 9989021"/>
              <a:gd name="connsiteY1" fmla="*/ 0 h 4920343"/>
              <a:gd name="connsiteX2" fmla="*/ 9989021 w 9989021"/>
              <a:gd name="connsiteY2" fmla="*/ 0 h 4920343"/>
              <a:gd name="connsiteX3" fmla="*/ 9989021 w 9989021"/>
              <a:gd name="connsiteY3" fmla="*/ 4920343 h 4920343"/>
              <a:gd name="connsiteX4" fmla="*/ 3227 w 9989021"/>
              <a:gd name="connsiteY4" fmla="*/ 4920343 h 4920343"/>
              <a:gd name="connsiteX5" fmla="*/ 0 w 9989021"/>
              <a:gd name="connsiteY5" fmla="*/ 4255735 h 4920343"/>
              <a:gd name="connsiteX0" fmla="*/ 1339 w 9989021"/>
              <a:gd name="connsiteY0" fmla="*/ 2408875 h 4920343"/>
              <a:gd name="connsiteX1" fmla="*/ 3227 w 9989021"/>
              <a:gd name="connsiteY1" fmla="*/ 0 h 4920343"/>
              <a:gd name="connsiteX2" fmla="*/ 9989021 w 9989021"/>
              <a:gd name="connsiteY2" fmla="*/ 0 h 4920343"/>
              <a:gd name="connsiteX3" fmla="*/ 9989021 w 9989021"/>
              <a:gd name="connsiteY3" fmla="*/ 4920343 h 4920343"/>
              <a:gd name="connsiteX4" fmla="*/ 3227 w 9989021"/>
              <a:gd name="connsiteY4" fmla="*/ 4920343 h 4920343"/>
              <a:gd name="connsiteX5" fmla="*/ 0 w 9989021"/>
              <a:gd name="connsiteY5" fmla="*/ 4255735 h 4920343"/>
              <a:gd name="connsiteX0" fmla="*/ 11022 w 9989021"/>
              <a:gd name="connsiteY0" fmla="*/ 2454278 h 4920343"/>
              <a:gd name="connsiteX1" fmla="*/ 3227 w 9989021"/>
              <a:gd name="connsiteY1" fmla="*/ 0 h 4920343"/>
              <a:gd name="connsiteX2" fmla="*/ 9989021 w 9989021"/>
              <a:gd name="connsiteY2" fmla="*/ 0 h 4920343"/>
              <a:gd name="connsiteX3" fmla="*/ 9989021 w 9989021"/>
              <a:gd name="connsiteY3" fmla="*/ 4920343 h 4920343"/>
              <a:gd name="connsiteX4" fmla="*/ 3227 w 9989021"/>
              <a:gd name="connsiteY4" fmla="*/ 4920343 h 4920343"/>
              <a:gd name="connsiteX5" fmla="*/ 0 w 9989021"/>
              <a:gd name="connsiteY5" fmla="*/ 4255735 h 4920343"/>
              <a:gd name="connsiteX0" fmla="*/ 0 w 9990908"/>
              <a:gd name="connsiteY0" fmla="*/ 2455614 h 4920343"/>
              <a:gd name="connsiteX1" fmla="*/ 5114 w 9990908"/>
              <a:gd name="connsiteY1" fmla="*/ 0 h 4920343"/>
              <a:gd name="connsiteX2" fmla="*/ 9990908 w 9990908"/>
              <a:gd name="connsiteY2" fmla="*/ 0 h 4920343"/>
              <a:gd name="connsiteX3" fmla="*/ 9990908 w 9990908"/>
              <a:gd name="connsiteY3" fmla="*/ 4920343 h 4920343"/>
              <a:gd name="connsiteX4" fmla="*/ 5114 w 9990908"/>
              <a:gd name="connsiteY4" fmla="*/ 4920343 h 4920343"/>
              <a:gd name="connsiteX5" fmla="*/ 1887 w 9990908"/>
              <a:gd name="connsiteY5" fmla="*/ 4255735 h 4920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990908" h="4920343">
                <a:moveTo>
                  <a:pt x="0" y="2455614"/>
                </a:moveTo>
                <a:cubicBezTo>
                  <a:pt x="1745" y="1907223"/>
                  <a:pt x="3369" y="548391"/>
                  <a:pt x="5114" y="0"/>
                </a:cubicBezTo>
                <a:lnTo>
                  <a:pt x="9990908" y="0"/>
                </a:lnTo>
                <a:lnTo>
                  <a:pt x="9990908" y="4920343"/>
                </a:lnTo>
                <a:lnTo>
                  <a:pt x="5114" y="4920343"/>
                </a:lnTo>
                <a:cubicBezTo>
                  <a:pt x="5114" y="4653404"/>
                  <a:pt x="1887" y="4522674"/>
                  <a:pt x="1887" y="4255735"/>
                </a:cubicBezTo>
              </a:path>
            </a:pathLst>
          </a:cu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588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0685-8ADF-C444-7CDC-8B725AA2D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413" y="696285"/>
            <a:ext cx="4299287" cy="1073825"/>
          </a:xfrm>
        </p:spPr>
        <p:txBody>
          <a:bodyPr/>
          <a:lstStyle/>
          <a:p>
            <a:r>
              <a:rPr lang="en-US" spc="300" dirty="0"/>
              <a:t>What is Data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FC74B-8AC6-CE82-0D42-DF92B0C68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513" y="1770110"/>
            <a:ext cx="4626352" cy="4045650"/>
          </a:xfrm>
        </p:spPr>
        <p:txBody>
          <a:bodyPr>
            <a:normAutofit/>
          </a:bodyPr>
          <a:lstStyle/>
          <a:p>
            <a:pPr lvl="1"/>
            <a:r>
              <a:rPr lang="en-US" sz="1500" dirty="0"/>
              <a:t>Data science is an interdisciplinary field that combines statistical analysis, programming, and domain expertise to extract insights and knowledge from data.</a:t>
            </a:r>
          </a:p>
          <a:p>
            <a:pPr lvl="1"/>
            <a:r>
              <a:rPr lang="en-US" sz="1500" dirty="0"/>
              <a:t>It involves a process of collecting, cleaning, analyzing, and interpreting data to inform decision-making, solve complex problems, and predict future trends. </a:t>
            </a:r>
          </a:p>
          <a:p>
            <a:pPr lvl="1"/>
            <a:r>
              <a:rPr lang="en-US" sz="1500" dirty="0"/>
              <a:t>By applying various techniques such as machine learning, data mining, and data visualization, data scientists can uncover patterns and relationships within data that would otherwise remain unknown.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5802E5A-23F7-A728-91D7-BD7B9500C659}"/>
              </a:ext>
            </a:extLst>
          </p:cNvPr>
          <p:cNvSpPr txBox="1">
            <a:spLocks/>
          </p:cNvSpPr>
          <p:nvPr/>
        </p:nvSpPr>
        <p:spPr>
          <a:xfrm>
            <a:off x="6516301" y="696286"/>
            <a:ext cx="416434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pc="300" dirty="0"/>
              <a:t>Why is it important?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AE03A6C-FB3E-CE28-413B-CE13E2C5F915}"/>
              </a:ext>
            </a:extLst>
          </p:cNvPr>
          <p:cNvSpPr txBox="1">
            <a:spLocks/>
          </p:cNvSpPr>
          <p:nvPr/>
        </p:nvSpPr>
        <p:spPr>
          <a:xfrm>
            <a:off x="6285295" y="1770111"/>
            <a:ext cx="4626352" cy="414942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 science is crucial in today's world because of the vast amounts of data generated every day.</a:t>
            </a:r>
          </a:p>
          <a:p>
            <a:r>
              <a:rPr lang="en-US" dirty="0"/>
              <a:t>Allows organizations to make data-driven decisions, optimize operations, and gain a competitive edge.</a:t>
            </a:r>
          </a:p>
          <a:p>
            <a:r>
              <a:rPr lang="en-US" dirty="0"/>
              <a:t>In business, data science can enhance customer experiences, streamline processes, and boost profitability. </a:t>
            </a:r>
          </a:p>
          <a:p>
            <a:r>
              <a:rPr lang="en-US" dirty="0"/>
              <a:t>In healthcare, it can lead to better patient outcomes through predictive diagnostics and personalized treatments. </a:t>
            </a:r>
          </a:p>
          <a:p>
            <a:r>
              <a:rPr lang="en-US" dirty="0"/>
              <a:t>In finance, it helps manage risks and detect fraud.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100" b="1" dirty="0"/>
              <a:t>Essentially, </a:t>
            </a:r>
            <a:r>
              <a:rPr lang="en-US" sz="2100" b="1" u="sng" dirty="0">
                <a:highlight>
                  <a:srgbClr val="FFFF00"/>
                </a:highlight>
              </a:rPr>
              <a:t>data science transforms raw data into actionable insights</a:t>
            </a:r>
            <a:r>
              <a:rPr lang="en-US" sz="2100" b="1" dirty="0"/>
              <a:t>, making it a key driver of innovation and efficiency across many industries.</a:t>
            </a:r>
          </a:p>
        </p:txBody>
      </p:sp>
    </p:spTree>
    <p:extLst>
      <p:ext uri="{BB962C8B-B14F-4D97-AF65-F5344CB8AC3E}">
        <p14:creationId xmlns:p14="http://schemas.microsoft.com/office/powerpoint/2010/main" val="409415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D30B2-A4BC-33D9-1031-2E3A4010B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7244" y="540181"/>
            <a:ext cx="8977511" cy="1073825"/>
          </a:xfrm>
        </p:spPr>
        <p:txBody>
          <a:bodyPr/>
          <a:lstStyle/>
          <a:p>
            <a:r>
              <a:rPr lang="en-US" spc="300" dirty="0"/>
              <a:t>The Data Science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31B7B-B577-7680-C5E5-E46B9AF84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7244" y="1614006"/>
            <a:ext cx="8909592" cy="1073825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Steps</a:t>
            </a:r>
            <a:r>
              <a:rPr lang="en-US" sz="20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Collection</a:t>
            </a:r>
            <a:r>
              <a:rPr lang="en-US" sz="2000" dirty="0"/>
              <a:t>: Gather relevant data from various sources.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43F9A-07CC-FAC6-D4C2-F4888612753E}"/>
              </a:ext>
            </a:extLst>
          </p:cNvPr>
          <p:cNvSpPr txBox="1"/>
          <p:nvPr/>
        </p:nvSpPr>
        <p:spPr>
          <a:xfrm>
            <a:off x="1607244" y="2454442"/>
            <a:ext cx="7199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Cleaning</a:t>
            </a:r>
            <a:r>
              <a:rPr lang="en-US" sz="2000" dirty="0"/>
              <a:t>: Prepare data for analysis (removing inconsistencies, formatting errors, etc.)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DB15B9-8601-E034-54A0-01DFC93B1050}"/>
              </a:ext>
            </a:extLst>
          </p:cNvPr>
          <p:cNvSpPr txBox="1"/>
          <p:nvPr/>
        </p:nvSpPr>
        <p:spPr>
          <a:xfrm>
            <a:off x="1607244" y="3103126"/>
            <a:ext cx="65548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Exploration</a:t>
            </a:r>
            <a:r>
              <a:rPr lang="en-US" sz="2000" dirty="0"/>
              <a:t>: Identify patterns and insights (using SAS, Python, etc.)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Descriptive Statistics (mean, median, mode, standard deviation, IQR etc.)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Visual Exploration: Use histograms, box plots, and scatter plots to identify trends, patterns, and relationships.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000" dirty="0"/>
              <a:t>Correlation Analysis: Determine the relationships between variables.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DDB842-4A79-68F6-663B-9BA260D6882E}"/>
              </a:ext>
            </a:extLst>
          </p:cNvPr>
          <p:cNvSpPr txBox="1"/>
          <p:nvPr/>
        </p:nvSpPr>
        <p:spPr>
          <a:xfrm>
            <a:off x="8643487" y="4975445"/>
            <a:ext cx="25699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/>
              <a:t>Outcome: Formulate hypotheses and guide further analysis…</a:t>
            </a:r>
          </a:p>
          <a:p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F79212B-12FA-1E33-FA17-5CD6AA65DC4D}"/>
              </a:ext>
            </a:extLst>
          </p:cNvPr>
          <p:cNvSpPr/>
          <p:nvPr/>
        </p:nvSpPr>
        <p:spPr>
          <a:xfrm>
            <a:off x="6891688" y="5575609"/>
            <a:ext cx="1684421" cy="1636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44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9" grpId="0"/>
      <p:bldP spid="10" grpId="0"/>
      <p:bldP spid="11" grpId="0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4559A57-F97A-2EC9-C1A3-56A5AF06F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697" y="415051"/>
            <a:ext cx="8977511" cy="1073825"/>
          </a:xfrm>
        </p:spPr>
        <p:txBody>
          <a:bodyPr/>
          <a:lstStyle/>
          <a:p>
            <a:r>
              <a:rPr lang="en-US" spc="300" dirty="0"/>
              <a:t>The Data Science Process (continued)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88C1B10-0ED5-5CD3-8E96-C668B29AA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613" y="1488876"/>
            <a:ext cx="5706738" cy="4257406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Further Steps: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Modeling</a:t>
            </a:r>
            <a:r>
              <a:rPr lang="en-US" sz="1400" dirty="0"/>
              <a:t>: Apply statistical and machine learning techniques to make predictions or classifications.</a:t>
            </a:r>
          </a:p>
          <a:p>
            <a:pPr marL="914400" lvl="2" indent="0">
              <a:buNone/>
            </a:pPr>
            <a:r>
              <a:rPr lang="en-US" u="sng" dirty="0"/>
              <a:t>Types of Models:</a:t>
            </a:r>
          </a:p>
          <a:p>
            <a:pPr marL="1200150" lvl="2" indent="-285750"/>
            <a:r>
              <a:rPr lang="en-US" b="1" dirty="0"/>
              <a:t>Supervised Learning: </a:t>
            </a:r>
            <a:r>
              <a:rPr lang="en-US" dirty="0"/>
              <a:t>Regression (e.g., linear regression) and classification (e.g., decision trees).</a:t>
            </a:r>
          </a:p>
          <a:p>
            <a:pPr marL="1200150" lvl="2" indent="-285750"/>
            <a:r>
              <a:rPr lang="en-US" b="1" dirty="0"/>
              <a:t>Unsupervised Learning: </a:t>
            </a:r>
            <a:r>
              <a:rPr lang="en-US" dirty="0"/>
              <a:t>Clustering (e.g., k-means)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Deployment</a:t>
            </a:r>
            <a:r>
              <a:rPr lang="en-US" sz="1400" dirty="0"/>
              <a:t>: Implement solutions in an environment to make it accessible for use.</a:t>
            </a:r>
          </a:p>
          <a:p>
            <a:pPr marL="1200150" lvl="2" indent="-285750"/>
            <a:r>
              <a:rPr lang="en-US" dirty="0"/>
              <a:t>API Integration: Deploy the model via an API for real-time predictions.</a:t>
            </a:r>
          </a:p>
          <a:p>
            <a:pPr marL="1200150" lvl="2" indent="-285750"/>
            <a:r>
              <a:rPr lang="en-US" dirty="0"/>
              <a:t>Batch Processing: Apply the model to large datasets periodically.</a:t>
            </a:r>
          </a:p>
          <a:p>
            <a:pPr marL="1200150" lvl="2" indent="-285750"/>
            <a:r>
              <a:rPr lang="en-US" dirty="0"/>
              <a:t>Cloud Deployment: Host models on cloud platforms for scalability.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C572B4-4D84-706F-6BA2-004B4BB39807}"/>
              </a:ext>
            </a:extLst>
          </p:cNvPr>
          <p:cNvSpPr txBox="1"/>
          <p:nvPr/>
        </p:nvSpPr>
        <p:spPr>
          <a:xfrm>
            <a:off x="6715957" y="1614004"/>
            <a:ext cx="4420472" cy="2902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/>
              <a:t>Monitoring and Maintenance: Regularly check model performance and update as needed to ensure accuracy over time.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3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23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Visualization: </a:t>
            </a:r>
            <a:r>
              <a:rPr lang="en-US" sz="1400" dirty="0"/>
              <a:t>Communicate the results in a clear and understandable manner.</a:t>
            </a:r>
          </a:p>
          <a:p>
            <a:pPr marL="1200150" lvl="2" indent="-285750"/>
            <a:r>
              <a:rPr lang="en-US" sz="1400" u="sng" dirty="0"/>
              <a:t>Tools: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Tableau, Power BI: Creating interactive dashboards.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/>
              <a:t>Matplotlib, Seaborn: Plotting in Python for custom visualizations.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040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Understanding the Data Science Lifecycle |">
            <a:extLst>
              <a:ext uri="{FF2B5EF4-FFF2-40B4-BE49-F238E27FC236}">
                <a16:creationId xmlns:a16="http://schemas.microsoft.com/office/drawing/2014/main" id="{FDE88549-7705-1C55-7B37-320EA9622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1788" y="331883"/>
            <a:ext cx="6168424" cy="6194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940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 is the Data Science Life Cycle? | Everything you need to know">
            <a:extLst>
              <a:ext uri="{FF2B5EF4-FFF2-40B4-BE49-F238E27FC236}">
                <a16:creationId xmlns:a16="http://schemas.microsoft.com/office/drawing/2014/main" id="{84BEEE17-45EC-15FD-8183-80A5B61BB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9161" y="963674"/>
            <a:ext cx="6973677" cy="493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15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AEFF-8DF4-35D6-DA1F-6E2B1B90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Semester-kickoff Questionnaire</a:t>
            </a:r>
          </a:p>
        </p:txBody>
      </p:sp>
      <p:pic>
        <p:nvPicPr>
          <p:cNvPr id="5" name="Content Placeholder 4" descr="A qr code with a black background&#10;&#10;Description automatically generated">
            <a:extLst>
              <a:ext uri="{FF2B5EF4-FFF2-40B4-BE49-F238E27FC236}">
                <a16:creationId xmlns:a16="http://schemas.microsoft.com/office/drawing/2014/main" id="{69CF26CC-479D-756B-88EC-A1913BF60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662" y="2419350"/>
            <a:ext cx="3141663" cy="3141663"/>
          </a:xfrm>
        </p:spPr>
      </p:pic>
    </p:spTree>
    <p:extLst>
      <p:ext uri="{BB962C8B-B14F-4D97-AF65-F5344CB8AC3E}">
        <p14:creationId xmlns:p14="http://schemas.microsoft.com/office/powerpoint/2010/main" val="3913943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23B0-2489-231A-2D00-8514127D1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300" dirty="0"/>
              <a:t>Connect with us!		    Discord: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D3081-30B5-89E7-C66B-0DD7C00C9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808" y="2506346"/>
            <a:ext cx="8977511" cy="3270611"/>
          </a:xfrm>
        </p:spPr>
        <p:txBody>
          <a:bodyPr>
            <a:norm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616161"/>
                </a:solidFill>
                <a:effectLst/>
                <a:latin typeface="Proxima Nova"/>
              </a:rPr>
              <a:t>Instagram: @clt_ads</a:t>
            </a:r>
            <a:endParaRPr lang="en-US" b="0" dirty="0">
              <a:effectLst/>
            </a:endParaRPr>
          </a:p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en-US" sz="1800" b="0" i="0" u="none" strike="noStrike" dirty="0" err="1">
                <a:solidFill>
                  <a:srgbClr val="616161"/>
                </a:solidFill>
                <a:effectLst/>
                <a:latin typeface="Proxima Nova"/>
              </a:rPr>
              <a:t>Linktree</a:t>
            </a:r>
            <a:r>
              <a:rPr lang="en-US" sz="1800" b="0" i="0" u="none" strike="noStrike" dirty="0">
                <a:solidFill>
                  <a:srgbClr val="616161"/>
                </a:solidFill>
                <a:effectLst/>
                <a:latin typeface="Proxima Nova"/>
              </a:rPr>
              <a:t>: </a:t>
            </a:r>
            <a:r>
              <a:rPr lang="en-US" sz="1800" b="0" i="0" u="none" strike="noStrike" dirty="0">
                <a:solidFill>
                  <a:srgbClr val="616161"/>
                </a:solidFill>
                <a:effectLst/>
                <a:latin typeface="Proxima Nova"/>
                <a:hlinkClick r:id="rId2"/>
              </a:rPr>
              <a:t>https://linktr.ee/clt_ads?utm_source=linktree_profile_share</a:t>
            </a:r>
            <a:endParaRPr lang="en-US" sz="1800" b="0" i="0" u="none" strike="noStrike" dirty="0">
              <a:solidFill>
                <a:srgbClr val="616161"/>
              </a:solidFill>
              <a:effectLst/>
              <a:latin typeface="Proxima Nova"/>
            </a:endParaRPr>
          </a:p>
          <a:p>
            <a:pPr rtl="0">
              <a:spcBef>
                <a:spcPts val="120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616161"/>
                </a:solidFill>
                <a:effectLst/>
                <a:latin typeface="Proxima Nova"/>
              </a:rPr>
              <a:t>GitHub: </a:t>
            </a:r>
            <a:r>
              <a:rPr lang="en-US" sz="1800" b="0" i="0" u="sng" strike="noStrike" dirty="0">
                <a:solidFill>
                  <a:srgbClr val="FF5252"/>
                </a:solidFill>
                <a:effectLst/>
                <a:latin typeface="Proxima Nova"/>
                <a:hlinkClick r:id="rId3"/>
              </a:rPr>
              <a:t>https://github.com/DylanABenson24/UNCC_Data-Science_Association</a:t>
            </a:r>
            <a:br>
              <a:rPr lang="en-US" dirty="0"/>
            </a:br>
            <a:endParaRPr lang="en-US" dirty="0"/>
          </a:p>
        </p:txBody>
      </p:sp>
      <p:pic>
        <p:nvPicPr>
          <p:cNvPr id="5125" name="Picture 5">
            <a:extLst>
              <a:ext uri="{FF2B5EF4-FFF2-40B4-BE49-F238E27FC236}">
                <a16:creationId xmlns:a16="http://schemas.microsoft.com/office/drawing/2014/main" id="{84CFF31F-3898-73D3-11D8-6B7550DCB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611" y="966329"/>
            <a:ext cx="2462671" cy="2462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7" name="Picture 7">
            <a:extLst>
              <a:ext uri="{FF2B5EF4-FFF2-40B4-BE49-F238E27FC236}">
                <a16:creationId xmlns:a16="http://schemas.microsoft.com/office/drawing/2014/main" id="{0738528D-DCA0-38E9-0C29-A7C9F3460D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612" y="4249406"/>
            <a:ext cx="2462671" cy="190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954C0246-24F9-2BFF-9C20-FDD1A24EE580}"/>
              </a:ext>
            </a:extLst>
          </p:cNvPr>
          <p:cNvSpPr txBox="1">
            <a:spLocks/>
          </p:cNvSpPr>
          <p:nvPr/>
        </p:nvSpPr>
        <p:spPr>
          <a:xfrm>
            <a:off x="1626465" y="3712493"/>
            <a:ext cx="8977511" cy="107382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2800" b="1" kern="1200" cap="all" spc="5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pc="300" dirty="0"/>
              <a:t>SDS Resources: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82A934-0515-3FAE-1603-FDB50946C69C}"/>
              </a:ext>
            </a:extLst>
          </p:cNvPr>
          <p:cNvSpPr txBox="1"/>
          <p:nvPr/>
        </p:nvSpPr>
        <p:spPr>
          <a:xfrm>
            <a:off x="1588024" y="4727639"/>
            <a:ext cx="60930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bg1">
                    <a:lumMod val="50000"/>
                  </a:schemeClr>
                </a:solidFill>
                <a:effectLst/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https://sds.charlotte.edu/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022BD3-25A5-8B06-D43D-553C910DB787}"/>
              </a:ext>
            </a:extLst>
          </p:cNvPr>
          <p:cNvSpPr txBox="1"/>
          <p:nvPr/>
        </p:nvSpPr>
        <p:spPr>
          <a:xfrm>
            <a:off x="1587864" y="5067632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https://sds.charlotte.edu/upcoming-events/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003260"/>
      </p:ext>
    </p:extLst>
  </p:cSld>
  <p:clrMapOvr>
    <a:masterClrMapping/>
  </p:clrMapOvr>
</p:sld>
</file>

<file path=ppt/theme/theme1.xml><?xml version="1.0" encoding="utf-8"?>
<a:theme xmlns:a="http://schemas.openxmlformats.org/drawingml/2006/main" name="Limelight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8E2"/>
      </a:lt2>
      <a:accent1>
        <a:srgbClr val="8885D7"/>
      </a:accent1>
      <a:accent2>
        <a:srgbClr val="6A90CE"/>
      </a:accent2>
      <a:accent3>
        <a:srgbClr val="5AAEC3"/>
      </a:accent3>
      <a:accent4>
        <a:srgbClr val="5DB4A2"/>
      </a:accent4>
      <a:accent5>
        <a:srgbClr val="68B484"/>
      </a:accent5>
      <a:accent6>
        <a:srgbClr val="62B65E"/>
      </a:accent6>
      <a:hlink>
        <a:srgbClr val="848651"/>
      </a:hlink>
      <a:folHlink>
        <a:srgbClr val="7F7F7F"/>
      </a:folHlink>
    </a:clrScheme>
    <a:fontScheme name="Trade Gothic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melightVTI" id="{7936DCFD-B587-41FD-9126-64F2709ED40B}" vid="{74F41540-78F1-4C56-9EAA-6FA6E9F1D77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1183</TotalTime>
  <Words>541</Words>
  <Application>Microsoft Office PowerPoint</Application>
  <PresentationFormat>Widescreen</PresentationFormat>
  <Paragraphs>51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Proxima Nova</vt:lpstr>
      <vt:lpstr>Trade Gothic Next Cond</vt:lpstr>
      <vt:lpstr>Trade Gothic Next Light</vt:lpstr>
      <vt:lpstr>LimelightVTI</vt:lpstr>
      <vt:lpstr>Introduction to Data Science</vt:lpstr>
      <vt:lpstr>What is Data Science?</vt:lpstr>
      <vt:lpstr>The Data Science Process</vt:lpstr>
      <vt:lpstr>The Data Science Process (continued)</vt:lpstr>
      <vt:lpstr>PowerPoint Presentation</vt:lpstr>
      <vt:lpstr>PowerPoint Presentation</vt:lpstr>
      <vt:lpstr>Semester-kickoff Questionnaire</vt:lpstr>
      <vt:lpstr>Connect with us!      Discord: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Dylan Benson</dc:creator>
  <cp:lastModifiedBy>Dylan Benson</cp:lastModifiedBy>
  <cp:revision>8</cp:revision>
  <dcterms:created xsi:type="dcterms:W3CDTF">2024-09-02T22:34:52Z</dcterms:created>
  <dcterms:modified xsi:type="dcterms:W3CDTF">2024-09-04T18:33:40Z</dcterms:modified>
</cp:coreProperties>
</file>